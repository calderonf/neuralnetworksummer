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52"/>
    <p:restoredTop sz="94610"/>
  </p:normalViewPr>
  <p:slideViewPr>
    <p:cSldViewPr snapToGrid="0" snapToObjects="1">
      <p:cViewPr>
        <p:scale>
          <a:sx n="192" d="100"/>
          <a:sy n="192" d="100"/>
        </p:scale>
        <p:origin x="1552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13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90 minutos. Publico mixto: profesionales de salud, medicos, enfermeria, ingenieros biomedicos. Objetivo: que salgan capaces de correr y modificar una red neuronal en Python. Tienen PC. Abriremos Colab y el Playground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 el ritmo. Dos bloques practicos (Playground y notebooks). Recuerda que pueden seguirte en su PC. Diles que no necesitan saber programar.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el tema del summer (envejecimiento, AgeTech). Baja la ansiedad: no hay que programar. Pregunta al publico quien ha escrito codigo alguna vez, para calibrar.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central: aprender de ejemplos vs programar reglas. Ejemplo: nadie sabe escribir la regla exacta para 'esto es un gato', pero con ejemplos la red la infiere. La analogia del cerebro es solo intuicion.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pesos como 'perillas' que la red gira. La activacion aporta la no linealidad: sin ella, apilar capas seria inutil (todo se reduce a una linea). Menciona ReLU y sigmoide sin entrar en matematicas.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figura es la que veran en el Playground. Enfatiza: la profundidad da capacidad de representar relaciones no lineales. Adelanta el experimento: quitar capas ocultas y ver que falla con los circulos.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 red, cambia la salida y como medimos el error. Este es el mapa mental del taller: los dos notebooks corresponden a estas dos columnas.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abren el link. Espera a que carguen. Este bloque es el ancla intuitiva antes del codigo.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8-10 min. Camina por la sala. Pide a alguien que muestre su pantalla. La conclusion (necesidad de capas ocultas) es el puente al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'aha'. Todo lo visual del playground tiene su equivalente de una linea. Ahora abrimos el Notebook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01_Clasificacion. Corran celda por celda con Shift+Enter. Explica que Colab ya trae casi todo instalado.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Refuerza estos 4 conceptos mientras corren el notebook. La matriz de confusion enlaza con la charla de IA responsable del summer.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02_Regresion. Enfatiza continuidad: casi identico al NB1. La salida ya no es clase sino numero.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importante: gestionar expectativas. Muchos creen que IA = magia infalible. R2 bajo aqui no es un error tuyo, es la naturaleza del problema. Conecta con IA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'para llevar'. La misma secuencia sirve para cualquier problema tabular. Invita a pensar en un problema de su propio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Enlaza con la charla de IA responsable de Virginia Ballarin y con bioetica. Breve pero importante para este publico de salud.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Q&amp;A. Repite el link de GitHub. Anima a que reusen los notebooks con sus propios datos. Deja 5 min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yground.tensorflow.org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Activation_functio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lab.research.google.com/github/calderonf/NeuralNetworkSummer/blob/main/notebooks/01_Clasificacion_del_Playground_al_Codigo.ipynb" TargetMode="Externa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lab.research.google.com/github/calderonf/NeuralNetworkSummer/blob/main/notebooks/02_Regresion_Prediccion_Numerica_en_Salud.ipynb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241280" y="-822960"/>
            <a:ext cx="2743200" cy="2743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778240" y="4297680"/>
            <a:ext cx="3291840" cy="32918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1592885"/>
            <a:ext cx="563270" cy="5632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Neuronales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son, para qué sirven y cómo usarlas en Python</a:t>
            </a:r>
            <a:endParaRPr lang="en-US" sz="1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clasificación y regresión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4800600"/>
            <a:ext cx="4754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868680" y="4983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Elec. Francisco Calderón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E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Asistente · Departamento de Electrónica · Pontificia Universidad Javeriana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Jul 2026 · 11:00–12:30 · Lab. de Ingeniería, Piso 9 – Sala P9-906 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LOS 90 MINUTOS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vamos a hacer hoy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1993392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11409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 intuición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709160" y="1984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red neuronal y de dónde viene la idea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149840" y="19842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770632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868680" y="2889504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01020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Playground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28803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red sin código en playground.tensorflow.org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0149840" y="28803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666744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868680" y="3785616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3906317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7764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 código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709160" y="3776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experimento, ahora en Python (Notebook 1)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0149840" y="3776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562856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8"/>
          <p:cNvSpPr/>
          <p:nvPr/>
        </p:nvSpPr>
        <p:spPr>
          <a:xfrm>
            <a:off x="868680" y="4681728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1" y="4802429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672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Regresión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4709160" y="46725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un número: caso de salud (Notebook 2)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0149840" y="467258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458968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3"/>
          <p:cNvSpPr/>
          <p:nvPr/>
        </p:nvSpPr>
        <p:spPr>
          <a:xfrm>
            <a:off x="868680" y="5577840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1" y="5698541"/>
            <a:ext cx="307238" cy="30723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55686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Tu turno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4709160" y="55686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aplicarlo a tus problemas + límites y ética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10149840" y="556869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TE SIRVE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necesitas ser programador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Estás en una Summer School sobre tecnologías para el envejecimiento y la salud. La IA ya aparece en casi todas las charlas: diagnóstico, monitoreo, imágenes, riesgo de caídas. Hoy abrimos la caja negra.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60120" y="3246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33969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perfil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526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Médicos, enfermería, ingeniería biomédica, diseño. Mezcla de disciplinas, poca o nula programación.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5112" y="292608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645152" y="3246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33969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salud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45152" y="4526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datos clínicos reales: cáncer de mama y progresión de diabetes.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10144" y="2926080"/>
            <a:ext cx="3502152" cy="2834640"/>
          </a:xfrm>
          <a:prstGeom prst="roundRect">
            <a:avLst>
              <a:gd name="adj" fmla="val 2903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8330184" y="32461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33969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de hoy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30184" y="45262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salgas capaz de correr, leer y modificar una red neuronal por tu cuenta.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INTUICIÓN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red neuronal?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función que aprende de ejemplos.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programar reglas a mano ('si el tumor mide más de X...'), le mostramos muchos ejemplos ya resueltos y la red ajusta sola sus parámetros hasta acertar.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9154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7764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 datos  </a:t>
            </a:r>
            <a:r>
              <a:rPr lang="en-US" sz="14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Ejemplos con la respuesta conocida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4480560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46012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4622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 </a:t>
            </a:r>
            <a:r>
              <a:rPr lang="en-US" sz="14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Ajusta 'pesos' para reducir el error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5800" y="5166360"/>
            <a:ext cx="548640" cy="5486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52870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5148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 </a:t>
            </a:r>
            <a:r>
              <a:rPr lang="en-US" sz="14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Responde ante casos nuevos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781800" y="502920"/>
            <a:ext cx="4709160" cy="4160520"/>
          </a:xfrm>
          <a:prstGeom prst="roundRect">
            <a:avLst>
              <a:gd name="adj" fmla="val 1978"/>
            </a:avLst>
          </a:prstGeom>
          <a:solidFill>
            <a:srgbClr val="0B2B33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7147560" y="868680"/>
            <a:ext cx="777240" cy="7772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553" y="1039673"/>
            <a:ext cx="435254" cy="4352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07680" y="1005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Inspirada en el cerebro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147560" y="18288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Neuronas biológicas: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 señales, las combinan y disparan una salida.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Neuronas artificiales: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hacen lo mismo con números. Miles de ellas, en capas, resuelven problemas complejos.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analogía, no una copia: nos basta para intuir cómo funcionan.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4</a:t>
            </a:r>
            <a:endParaRPr lang="en-US" sz="900" dirty="0"/>
          </a:p>
        </p:txBody>
      </p:sp>
      <p:pic>
        <p:nvPicPr>
          <p:cNvPr id="21" name="Imagen 20" descr="Diagrama&#10;&#10;Descripción generada automáticamente">
            <a:extLst>
              <a:ext uri="{FF2B5EF4-FFF2-40B4-BE49-F238E27FC236}">
                <a16:creationId xmlns:a16="http://schemas.microsoft.com/office/drawing/2014/main" id="{AFBF32FB-A359-E3CD-DF91-5081E0041F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6120" y="4080866"/>
            <a:ext cx="4253024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LADRILLO BÁSICO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neurona artificial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2194560" cy="11887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861820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76"/>
                </a:solidFill>
              </a:rPr>
              <a:t>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219456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861820" y="30032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76"/>
                </a:solidFill>
              </a:rPr>
              <a:t>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720" y="3566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flipV="1">
            <a:off x="1371600" y="3593592"/>
            <a:ext cx="2179320" cy="24688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82880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76"/>
                </a:solidFill>
              </a:rPr>
              <a:t>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063240"/>
            <a:ext cx="1005840" cy="100584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566160" y="3063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572000" y="356616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486400" y="306324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486400" y="30632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3566160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rgbClr val="0B2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8638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076"/>
                </a:solidFill>
              </a:rPr>
              <a:t>entradas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076"/>
                </a:solidFill>
              </a:rPr>
              <a:t>suma ponderada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076"/>
                </a:solidFill>
              </a:rPr>
              <a:t>no linealidad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076"/>
                </a:solidFill>
              </a:rPr>
              <a:t>salida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1828800"/>
            <a:ext cx="265176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90982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98280" y="242316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Pesos (w)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importa cada entrada.
</a:t>
            </a:r>
            <a:r>
              <a:rPr lang="en-US" sz="13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Suma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todo en un número.
</a:t>
            </a:r>
            <a:r>
              <a:rPr lang="en-US" sz="13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Activación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la salida (ReLU, sigmoide…).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NEURONA A MUCHAS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Capas: dónde nace el poder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16736" y="3172968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 flipV="1">
            <a:off x="1627632" y="2551175"/>
            <a:ext cx="1283208" cy="621775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597152" y="3161081"/>
            <a:ext cx="1283208" cy="143835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316736" y="3886200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316736" y="3886200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 flipV="1">
            <a:off x="1597152" y="3172962"/>
            <a:ext cx="1283208" cy="713232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627632" y="3874313"/>
            <a:ext cx="1252728" cy="752551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 flipV="1">
            <a:off x="3471670" y="2487168"/>
            <a:ext cx="1283209" cy="64002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471672" y="2551170"/>
            <a:ext cx="1283208" cy="649229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471672" y="2551172"/>
            <a:ext cx="1283208" cy="1362459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471672" y="2551174"/>
            <a:ext cx="1283208" cy="2075689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191256" y="3200400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191256" y="3200400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471670" y="3200398"/>
            <a:ext cx="1283210" cy="713234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471670" y="3200399"/>
            <a:ext cx="1283210" cy="1426465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191256" y="3913632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191256" y="3913632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191256" y="3913632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502152" y="3913631"/>
            <a:ext cx="1252728" cy="713233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191256" y="4626864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191256" y="4626864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191256" y="4626864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3191256" y="4626864"/>
            <a:ext cx="1563624" cy="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065776" y="2487168"/>
            <a:ext cx="1563624" cy="109728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5065776" y="3200400"/>
            <a:ext cx="1563624" cy="384048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 flipV="1">
            <a:off x="5065776" y="3602736"/>
            <a:ext cx="1563624" cy="310896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 flipV="1">
            <a:off x="5065776" y="3602736"/>
            <a:ext cx="1563624" cy="1024128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1005840" y="2862072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1005840" y="3575304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2880360" y="217627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2880360" y="288950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2880360" y="360273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2880360" y="431596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4754880" y="2176272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754880" y="288950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4754880" y="3602736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4754880" y="431596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6629400" y="3273552"/>
            <a:ext cx="621792" cy="621792"/>
          </a:xfrm>
          <a:prstGeom prst="ellipse">
            <a:avLst/>
          </a:prstGeom>
          <a:solidFill>
            <a:srgbClr val="0B2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85800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076"/>
                </a:solidFill>
              </a:rPr>
              <a:t>Entrada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560320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076"/>
                </a:solidFill>
              </a:rPr>
              <a:t>Oculta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34840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076"/>
                </a:solidFill>
              </a:rPr>
              <a:t>Oculta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09360" y="5074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076"/>
                </a:solidFill>
              </a:rPr>
              <a:t>Salida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412480" y="1828800"/>
            <a:ext cx="3108960" cy="3840480"/>
          </a:xfrm>
          <a:prstGeom prst="roundRect">
            <a:avLst>
              <a:gd name="adj" fmla="val 2647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8686800" y="2103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559" y="2233879"/>
            <a:ext cx="332842" cy="332842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868680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capas ocultas?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686800" y="338328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capa solo traza líneas rectas.
</a:t>
            </a:r>
            <a:r>
              <a:rPr lang="en-US" sz="13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ocultas y la no linealidad permiten curvas y fronteras complejas — como separar dos círculos.
</a:t>
            </a:r>
            <a:r>
              <a:rPr lang="en-US" sz="1300" i="1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capas/neuronas = puede aprender patrones más ricos (pero también sobreajustar).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977A146C-7528-32EE-D3FB-CEEAE51FBC1A}"/>
              </a:ext>
            </a:extLst>
          </p:cNvPr>
          <p:cNvSpPr/>
          <p:nvPr/>
        </p:nvSpPr>
        <p:spPr>
          <a:xfrm>
            <a:off x="1627632" y="3188496"/>
            <a:ext cx="1252728" cy="697700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9F0A7108-B1D3-B08C-166F-BFAC21506FF0}"/>
              </a:ext>
            </a:extLst>
          </p:cNvPr>
          <p:cNvSpPr/>
          <p:nvPr/>
        </p:nvSpPr>
        <p:spPr>
          <a:xfrm flipV="1">
            <a:off x="1627632" y="2566721"/>
            <a:ext cx="1252728" cy="1307592"/>
          </a:xfrm>
          <a:prstGeom prst="line">
            <a:avLst/>
          </a:prstGeom>
          <a:noFill/>
          <a:ln w="12700">
            <a:solidFill>
              <a:srgbClr val="BFE0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PREGUNTAS, UNA HERRAMIENTA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vs. Regresión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731520" cy="73152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240121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grupo pertenece?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657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una categoría
</a:t>
            </a:r>
            <a:r>
              <a:rPr lang="en-US" sz="14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hoy: tumor benigno vs. maligno
También: ¿hay caída? ¿riesgo alto/bajo? ¿qué patología?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26480" y="192024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6446520" y="2240280"/>
            <a:ext cx="731520" cy="73152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454" y="240121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4652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cantidad / qué número?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46520" y="3657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un número continuo
</a:t>
            </a:r>
            <a:r>
              <a:rPr lang="en-US" sz="14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hoy: progresión de la diabetes
También: presión estimada, dosis, días de estancia, edad biológica.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840480" cy="384048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4813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Playground</a:t>
            </a:r>
            <a:endParaRPr lang="en-US" sz="4400" dirty="0"/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86868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playground.tensorflow.org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79" y="4434840"/>
            <a:ext cx="98390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una red neuronal moviendo perillas — sin escribir una sola línea de código. Todos abran el enlace en su PC.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Guía: experimenta en el Playground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20208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2938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dataset de los dos círculos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clásico: azul adentro, naranja afuera.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68680" y="28620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686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770632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SIN capas ocultas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entrada y salida. Dale ▶. ¿Puede separarlos? (no).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6118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1 capa oculta con 2–4 neuronas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cómo el fondo empieza a curvarse.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868680" y="4544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686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45312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a 2 capas y más neuronas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frontera se vuelve un círculo. ¡Ya aprende!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7498080" cy="749808"/>
          </a:xfrm>
          <a:prstGeom prst="roundRect">
            <a:avLst>
              <a:gd name="adj" fmla="val 1097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68680" y="538581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6868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294376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activación y el 'learning rate'
</a:t>
            </a:r>
            <a:r>
              <a:rPr lang="en-US" sz="125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ReLU vs Tanh. Mira qué pasa con el error.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66760" y="1874520"/>
            <a:ext cx="3154680" cy="4160520"/>
          </a:xfrm>
          <a:prstGeom prst="roundRect">
            <a:avLst>
              <a:gd name="adj" fmla="val 2609"/>
            </a:avLst>
          </a:prstGeom>
          <a:solidFill>
            <a:srgbClr val="0B2B33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641080" y="2148840"/>
            <a:ext cx="594360" cy="59436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1839" y="2279599"/>
            <a:ext cx="332842" cy="33284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410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clave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41080" y="333756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red necesita capas ocultas para separar los círculos, pero no para separar dos grupos con una línea recta?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641080" y="5440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esta idea para el código.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perilla es una línea de código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</a:rPr>
              <a:t>EN EL PLAYGROUND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</a:rPr>
              <a:t>EN PYTHON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capas ocultas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67128"/>
            <a:ext cx="292608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55080" y="1965960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0B2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583680" y="19659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hidden_layer_sizes=(8, 8)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752344"/>
            <a:ext cx="5212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914400" y="275234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Neuronas por capa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953512"/>
            <a:ext cx="292608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5080" y="2752344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0B2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6583680" y="27523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números dentro de ( … )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3538728"/>
            <a:ext cx="5212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914400" y="35387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Función de activación</a:t>
            </a:r>
            <a:endParaRPr lang="en-US" sz="15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39896"/>
            <a:ext cx="292608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55080" y="3538728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0B2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5"/>
          <p:cNvSpPr/>
          <p:nvPr/>
        </p:nvSpPr>
        <p:spPr>
          <a:xfrm>
            <a:off x="6583680" y="353872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activation='relu'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40080" y="4325112"/>
            <a:ext cx="5212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17"/>
          <p:cNvSpPr/>
          <p:nvPr/>
        </p:nvSpPr>
        <p:spPr>
          <a:xfrm>
            <a:off x="914400" y="43251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</a:t>
            </a: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526280"/>
            <a:ext cx="292608" cy="25603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355080" y="4325112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0B2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6583680" y="432511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learning_rate_init=0.05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40080" y="5111496"/>
            <a:ext cx="52120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1"/>
          <p:cNvSpPr/>
          <p:nvPr/>
        </p:nvSpPr>
        <p:spPr>
          <a:xfrm>
            <a:off x="914400" y="51114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▶ (entrenar)</a:t>
            </a:r>
            <a:endParaRPr lang="en-US" sz="15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312664"/>
            <a:ext cx="292608" cy="25603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355080" y="5111496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0B2B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3"/>
          <p:cNvSpPr/>
          <p:nvPr/>
        </p:nvSpPr>
        <p:spPr>
          <a:xfrm>
            <a:off x="6583680" y="511149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red.fit(X, y)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4813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1 · Clasificación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Playground al código: dos círculos → cáncer de mama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452628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12333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70001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4526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Ábrelo en Colab desde el repositorio de GitHub (badge 'Open in Colab')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1 · IDEAS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mirar mientras ejecutas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262226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con unos datos y evaluamos con otros que la red nunca vio. Así sabemos si aprendió o solo memorizó.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446520" y="2121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226222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decisión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fondo de colores del Playground, ahora dibujado por tu código. Un círculo bien trazado = aprendió.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914400" y="42245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8" y="436534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/ normalizar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datos reales, poner todas las variables en la misma escala es clave para que la red entrene bien.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446520" y="42245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338" y="4365346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4652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salud no basta el % global: importa qué tipo de error comete (¿dice 'sano' a un enfermo?).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474720" cy="347472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48132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 ·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2 · Regresión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Predecir un número: progresión de la diabetes a un año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receta que el Notebook 1. Solo cambian la salida (un número) y cómo medimos el error.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 · CÓMO SE MIDE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regresión no hay 'precisión %'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3353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absoluto medio: en promedio, ¿por cuánto nos equivocamos? Se lee en las unidades del problema.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446520" y="2194560"/>
            <a:ext cx="640080" cy="64008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23353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46520" y="2880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bien explica el modelo: 1.0 = perfecto, 0 = no explica nada. Sirve para comparar modelos.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960120" y="4434840"/>
            <a:ext cx="777240" cy="777240"/>
          </a:xfrm>
          <a:prstGeom prst="ellipse">
            <a:avLst/>
          </a:prstGeom>
          <a:solidFill>
            <a:srgbClr val="F2F7F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113" y="4605833"/>
            <a:ext cx="435254" cy="435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realistas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920240" y="49834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dataset es difícil de verdad: un R² de 0.3–0.5 es lo normal, incluso para los mejores modelos. No todo problema real se predice al 99%. Reconocer los límites de un modelo es parte de usarlo bien — y de usar la IA de forma responsable en salud.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TURNO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receta para tus propios problemas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241" y="2385121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585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ejemplos con la respuesta conocida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617720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61" y="238512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2585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Separa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+ normaliza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8321040" y="224028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881" y="238512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2585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la 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2971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neuronas, activación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914400" y="42062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241" y="4351081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2245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Entrena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4937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red.fit(X, y)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4617720" y="42062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61" y="4351081"/>
            <a:ext cx="368686" cy="3686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2245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Evalúa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17720" y="4937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/ MAE / R²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2F7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8321040" y="420624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5881" y="4351081"/>
            <a:ext cx="368686" cy="3686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2245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Usa y revisa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21040" y="4937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+ criterio humano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IA CON CRITERIO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y responsabilidad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262226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mandan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datos están sesgados o incompletos, la red hereda ese sesgo. 'Basura entra, basura sale'.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446520" y="2121408"/>
            <a:ext cx="640080" cy="64008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226222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≠ causa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encuentra patrones, no explica el porqué. No reemplaza el juicio clínico.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914400" y="4224528"/>
            <a:ext cx="640080" cy="64008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8" y="436534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error correcto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negativo en salud puede costar mucho más que un falso positivo. Elige la métrica según el riesgo.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446520" y="4224528"/>
            <a:ext cx="640080" cy="640080"/>
          </a:xfrm>
          <a:prstGeom prst="ellipse">
            <a:avLst/>
          </a:prstGeom>
          <a:solidFill>
            <a:srgbClr val="E3F3F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338" y="4365346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en el bucle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46520" y="48920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apoya la decisión; la responsabilidad sigue siendo de las personas. Privacidad y ética primero.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Workshop: Neural Networks · AgeTech Latam Summer School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7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961120" y="4480560"/>
            <a:ext cx="3108960" cy="3108960"/>
          </a:xfrm>
          <a:prstGeom prst="ellipse">
            <a:avLst/>
          </a:prstGeom>
          <a:solidFill>
            <a:srgbClr val="02C39A">
              <a:alpha val="16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2984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6868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sabes qué es una red neuronal, para qué sirve y cómo correrla en Python.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10515600" cy="1874520"/>
          </a:xfrm>
          <a:prstGeom prst="roundRect">
            <a:avLst>
              <a:gd name="adj" fmla="val 4390"/>
            </a:avLst>
          </a:prstGeom>
          <a:solidFill>
            <a:srgbClr val="12333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09728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material (notebooks + esta presentación):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45262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github.com/calderonf/NeuralNetworkSummer
</a:t>
            </a:r>
            <a:r>
              <a:rPr lang="en-US" sz="1500" b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Colab: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cada notebook con el badge 'Open in Colab'
</a:t>
            </a:r>
            <a:r>
              <a:rPr lang="en-US" sz="1500" b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playground.tensorflow.org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Elec. Francisco Calderón · Depto. de Electrónica · PUJ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2039</Words>
  <Application>Microsoft Macintosh PowerPoint</Application>
  <PresentationFormat>Panorámica</PresentationFormat>
  <Paragraphs>227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Workshop: Neural Networks</dc:title>
  <dc:subject>PptxGenJS Presentation</dc:subject>
  <dc:creator>Francisco Calderón</dc:creator>
  <cp:lastModifiedBy>Francisco Carlos Calderon Bocanegra</cp:lastModifiedBy>
  <cp:revision>11</cp:revision>
  <dcterms:created xsi:type="dcterms:W3CDTF">2026-07-02T00:56:20Z</dcterms:created>
  <dcterms:modified xsi:type="dcterms:W3CDTF">2026-07-02T14:06:37Z</dcterms:modified>
</cp:coreProperties>
</file>