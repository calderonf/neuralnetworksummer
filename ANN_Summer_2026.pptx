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232" y="7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01300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Bienvenida. 90 minutos. Publico mixto: profesionales de salud, medicos, enfermeria, ingenieros biomedicos. Objetivo: que salgan capaces de correr y modificar una red neuronal en Python. Tienen PC. Abriremos Colab y el Playground juntos.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Marca el ritmo. Dos bloques practicos (Playground y notebooks). Recuerda que pueden seguirte en su PC. Diles que no necesitan saber programar.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Conecta con el tema del summer (envejecimiento, AgeTech). Baja la ansiedad: no hay que programar. Pregunta al publico quien ha escrito codigo alguna vez, para calibrar.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Idea central: aprender de ejemplos vs programar reglas. Ejemplo: nadie sabe escribir la regla exacta para 'esto es un gato', pero con ejemplos la red la infiere. La analogia del cerebro es solo intuicion.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 pesos como 'perillas' que la red gira. La activacion aporta la no linealidad: sin ella, apilar capas seria inutil (todo se reduce a una linea). Menciona ReLU y sigmoide sin entrar en matematicas.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figura es la que veran en el Playground. Enfatiza: la profundidad da capacidad de representar relaciones no lineales. Adelanta el experimento: quitar capas ocultas y ver que falla con los circulos.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Misma red, cambia la salida y como medimos el error. Este es el mapa mental del taller: los dos notebooks corresponden a estas dos columnas.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Todos abren el link. Espera a que carguen. Este bloque es el ancla intuitiva antes del codigo.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 8-10 min. Camina por la sala. Pide a alguien que muestre su pantalla. La conclusion (necesidad de capas ocultas) es el puente al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momento 'aha'. Todo lo visual del playground tiene su equivalente de una linea. Ahora abrimos el Notebook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Abre 01_Clasificacion. Corran celda por celda con Shift+Enter. Explica que Colab ya trae casi todo instalado.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Refuerza estos 4 conceptos mientras corren el notebook. La matriz de confusion enlaza con la charla de IA responsable del summer.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Abre 02_Regresion. Enfatiza continuidad: casi identico al NB1. La salida ya no es clase sino numero.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importante: gestionar expectativas. Muchos creen que IA = magia infalible. R2 bajo aqui no es un error tuyo, es la naturaleza del problema. Conecta con IA responsable.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'para llevar'. La misma secuencia sirve para cualquier problema tabular. Invita a pensar en un problema de su propio trabajo.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Enlaza con la charla de IA responsable de Virginia Ballarin y con bioetica. Breve pero importante para este publico de salud.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y Q&amp;A. Repite el link de GitHub. Anima a que reusen los notebooks con sus propios datos. Deja 5 min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playground.tensorflow.org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20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9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13.png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463040"/>
            <a:ext cx="4206240" cy="4206240"/>
          </a:xfrm>
          <a:prstGeom prst="ellipse">
            <a:avLst/>
          </a:prstGeom>
          <a:solidFill>
            <a:srgbClr val="028090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-822960"/>
            <a:ext cx="2743200" cy="2743200"/>
          </a:xfrm>
          <a:prstGeom prst="ellipse">
            <a:avLst/>
          </a:prstGeom>
          <a:solidFill>
            <a:srgbClr val="00A896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778240" y="4297680"/>
            <a:ext cx="3291840" cy="3291840"/>
          </a:xfrm>
          <a:prstGeom prst="ellipse">
            <a:avLst/>
          </a:prstGeom>
          <a:solidFill>
            <a:srgbClr val="02C39A">
              <a:alpha val="1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371600"/>
            <a:ext cx="1005840" cy="10058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245" y="1592885"/>
            <a:ext cx="563270" cy="56327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05740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WORKSHOP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23317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 Neuronales</a:t>
            </a:r>
            <a:endParaRPr lang="en-US" sz="6000" dirty="0"/>
          </a:p>
        </p:txBody>
      </p:sp>
      <p:sp>
        <p:nvSpPr>
          <p:cNvPr id="9" name="Text 6"/>
          <p:cNvSpPr/>
          <p:nvPr/>
        </p:nvSpPr>
        <p:spPr>
          <a:xfrm>
            <a:off x="868680" y="36118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son, para qué sirven y cómo usarlas en Python</a:t>
            </a:r>
            <a:endParaRPr lang="en-US" sz="19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clasificación y regresión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868680" y="4800600"/>
            <a:ext cx="475488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49834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Elec. Francisco Calderón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AE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Profesor Asistente · Departamento de Electrónica · Pontificia Universidad Javeriana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6868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Jul 2026 · 11:00–12:30 · Lab. de Ingeniería, Piso 9 – Sala P9-906 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 DE LOS 90 MINUTOS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23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vamos a hacer hoy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88136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93392"/>
            <a:ext cx="548640" cy="548640"/>
          </a:xfrm>
          <a:prstGeom prst="ellipse">
            <a:avLst/>
          </a:prstGeom>
          <a:solidFill>
            <a:srgbClr val="F2F7F7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381" y="2114093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9842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La intuición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4709160" y="1984248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una red neuronal y de dónde viene la idea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0149840" y="1984248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min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0080" y="2770632"/>
            <a:ext cx="1088136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2889504"/>
            <a:ext cx="548640" cy="548640"/>
          </a:xfrm>
          <a:prstGeom prst="ellipse">
            <a:avLst/>
          </a:prstGeom>
          <a:solidFill>
            <a:srgbClr val="F2F7F7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9381" y="3010205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600200" y="28803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Playground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4709160" y="288036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una red sin código en playground.tensorflow.org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10149840" y="28803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 min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40080" y="3666744"/>
            <a:ext cx="1088136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68680" y="3785616"/>
            <a:ext cx="548640" cy="548640"/>
          </a:xfrm>
          <a:prstGeom prst="ellipse">
            <a:avLst/>
          </a:prstGeom>
          <a:solidFill>
            <a:srgbClr val="F2F7F7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9381" y="3906317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00200" y="377647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Al código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4709160" y="3776472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experimento, ahora en Python (Notebook 1)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10149840" y="3776472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~25 min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640080" y="4562856"/>
            <a:ext cx="1088136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868680" y="4681728"/>
            <a:ext cx="548640" cy="548640"/>
          </a:xfrm>
          <a:prstGeom prst="ellipse">
            <a:avLst/>
          </a:prstGeom>
          <a:solidFill>
            <a:srgbClr val="F2F7F7"/>
          </a:solidFill>
          <a:ln/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9381" y="4802429"/>
            <a:ext cx="307238" cy="30723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600200" y="467258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Regresión</a:t>
            </a:r>
            <a:endParaRPr lang="en-US" sz="1700" dirty="0"/>
          </a:p>
        </p:txBody>
      </p:sp>
      <p:sp>
        <p:nvSpPr>
          <p:cNvPr id="26" name="Text 20"/>
          <p:cNvSpPr/>
          <p:nvPr/>
        </p:nvSpPr>
        <p:spPr>
          <a:xfrm>
            <a:off x="4709160" y="4672584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Predecir un número: caso de salud (Notebook 2)</a:t>
            </a:r>
            <a:endParaRPr lang="en-US" sz="1350" dirty="0"/>
          </a:p>
        </p:txBody>
      </p:sp>
      <p:sp>
        <p:nvSpPr>
          <p:cNvPr id="27" name="Text 21"/>
          <p:cNvSpPr/>
          <p:nvPr/>
        </p:nvSpPr>
        <p:spPr>
          <a:xfrm>
            <a:off x="10149840" y="4672584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 min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640080" y="5458968"/>
            <a:ext cx="1088136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868680" y="5577840"/>
            <a:ext cx="548640" cy="548640"/>
          </a:xfrm>
          <a:prstGeom prst="ellipse">
            <a:avLst/>
          </a:prstGeom>
          <a:solidFill>
            <a:srgbClr val="F2F7F7"/>
          </a:solidFill>
          <a:ln/>
        </p:spPr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9381" y="5698541"/>
            <a:ext cx="307238" cy="307238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1600200" y="556869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Tu turno</a:t>
            </a:r>
            <a:endParaRPr lang="en-US" sz="1700" dirty="0"/>
          </a:p>
        </p:txBody>
      </p:sp>
      <p:sp>
        <p:nvSpPr>
          <p:cNvPr id="32" name="Text 25"/>
          <p:cNvSpPr/>
          <p:nvPr/>
        </p:nvSpPr>
        <p:spPr>
          <a:xfrm>
            <a:off x="4709160" y="5568696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aplicarlo a tus problemas + límites y ética</a:t>
            </a:r>
            <a:endParaRPr lang="en-US" sz="1350" dirty="0"/>
          </a:p>
        </p:txBody>
      </p:sp>
      <p:sp>
        <p:nvSpPr>
          <p:cNvPr id="33" name="Text 26"/>
          <p:cNvSpPr/>
          <p:nvPr/>
        </p:nvSpPr>
        <p:spPr>
          <a:xfrm>
            <a:off x="10149840" y="5568696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min</a:t>
            </a:r>
            <a:endParaRPr lang="en-US" sz="1200" dirty="0"/>
          </a:p>
        </p:txBody>
      </p:sp>
      <p:sp>
        <p:nvSpPr>
          <p:cNvPr id="34" name="Text 2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Workshop: Neural Networks · AgeTech Latam Summer School 2026</a:t>
            </a:r>
            <a:endParaRPr lang="en-US" sz="900" dirty="0"/>
          </a:p>
        </p:txBody>
      </p:sp>
      <p:sp>
        <p:nvSpPr>
          <p:cNvPr id="35" name="Text 28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076"/>
                </a:solidFill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ESTO TE SIRVE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23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necesitas ser programador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Estás en una Summer School sobre tecnologías para el envejecimiento y la salud. La IA ya aparece en casi todas las charlas: diagnóstico, monitoreo, imágenes, riesgo de caídas. Hoy abrimos la caja negra.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926080"/>
            <a:ext cx="3502152" cy="2834640"/>
          </a:xfrm>
          <a:prstGeom prst="roundRect">
            <a:avLst>
              <a:gd name="adj" fmla="val 2903"/>
            </a:avLst>
          </a:prstGeom>
          <a:solidFill>
            <a:srgbClr val="F2F7F7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324612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996" y="3396996"/>
            <a:ext cx="384048" cy="3840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40690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perfil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60120" y="452628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Médicos, enfermería, ingeniería biomédica, diseño. Mezcla de disciplinas, poca o nula programación.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325112" y="2926080"/>
            <a:ext cx="3502152" cy="2834640"/>
          </a:xfrm>
          <a:prstGeom prst="roundRect">
            <a:avLst>
              <a:gd name="adj" fmla="val 2903"/>
            </a:avLst>
          </a:prstGeom>
          <a:solidFill>
            <a:srgbClr val="F2F7F7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45152" y="324612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6028" y="3396996"/>
            <a:ext cx="384048" cy="38404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45152" y="40690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 de salud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4645152" y="452628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Usaremos datos clínicos reales: cáncer de mama y progresión de diabetes.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8010144" y="2926080"/>
            <a:ext cx="3502152" cy="2834640"/>
          </a:xfrm>
          <a:prstGeom prst="roundRect">
            <a:avLst>
              <a:gd name="adj" fmla="val 2903"/>
            </a:avLst>
          </a:prstGeom>
          <a:solidFill>
            <a:srgbClr val="F2F7F7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30184" y="324612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1060" y="3396996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30184" y="40690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meta de hoy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8330184" y="452628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salgas capaz de correr, leer y modificar una red neuronal por tu cuenta.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Workshop: Neural Networks · AgeTech Latam Summer School 2026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076"/>
                </a:solidFill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INTUICIÓN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23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es una red neuronal?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760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una función que aprende de ejemplos.</a:t>
            </a:r>
            <a:endParaRPr lang="en-US" sz="2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5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lugar de programar reglas a mano ('si el tumor mide más de X...'), le mostramos muchos ejemplos ya resueltos y la red ajusta sola sus parámetros hasta acertar.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3794760"/>
            <a:ext cx="548640" cy="548640"/>
          </a:xfrm>
          <a:prstGeom prst="ellipse">
            <a:avLst/>
          </a:prstGeom>
          <a:solidFill>
            <a:srgbClr val="F2F7F7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501" y="391546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377647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das datos  </a:t>
            </a:r>
            <a:r>
              <a:rPr lang="en-US" sz="1400" dirty="0">
                <a:solidFill>
                  <a:srgbClr val="5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Ejemplos con la respuesta conocida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85800" y="4480560"/>
            <a:ext cx="548640" cy="548640"/>
          </a:xfrm>
          <a:prstGeom prst="ellipse">
            <a:avLst/>
          </a:prstGeom>
          <a:solidFill>
            <a:srgbClr val="F2F7F7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01" y="4601261"/>
            <a:ext cx="307238" cy="30723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446227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Aprende  </a:t>
            </a:r>
            <a:r>
              <a:rPr lang="en-US" sz="1400" dirty="0">
                <a:solidFill>
                  <a:srgbClr val="5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Ajusta 'pesos' para reducir el error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85800" y="5166360"/>
            <a:ext cx="548640" cy="548640"/>
          </a:xfrm>
          <a:prstGeom prst="ellipse">
            <a:avLst/>
          </a:prstGeom>
          <a:solidFill>
            <a:srgbClr val="F2F7F7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501" y="5287061"/>
            <a:ext cx="307238" cy="30723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71600" y="514807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Predice  </a:t>
            </a:r>
            <a:r>
              <a:rPr lang="en-US" sz="1400" dirty="0">
                <a:solidFill>
                  <a:srgbClr val="5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Responde ante casos nuevos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6812280" y="1783080"/>
            <a:ext cx="4709160" cy="4160520"/>
          </a:xfrm>
          <a:prstGeom prst="roundRect">
            <a:avLst>
              <a:gd name="adj" fmla="val 1978"/>
            </a:avLst>
          </a:prstGeom>
          <a:solidFill>
            <a:srgbClr val="0B2B33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178040" y="2148840"/>
            <a:ext cx="777240" cy="777240"/>
          </a:xfrm>
          <a:prstGeom prst="ellipse">
            <a:avLst/>
          </a:prstGeom>
          <a:solidFill>
            <a:srgbClr val="F2F7F7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49033" y="2319833"/>
            <a:ext cx="435254" cy="43525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138160" y="2286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Inspirada en el cerebro</a:t>
            </a:r>
            <a:endParaRPr lang="en-US" sz="1700" dirty="0"/>
          </a:p>
        </p:txBody>
      </p:sp>
      <p:sp>
        <p:nvSpPr>
          <p:cNvPr id="18" name="Text 12"/>
          <p:cNvSpPr/>
          <p:nvPr/>
        </p:nvSpPr>
        <p:spPr>
          <a:xfrm>
            <a:off x="7178040" y="3108960"/>
            <a:ext cx="4023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Neuronas biológicas: </a:t>
            </a:r>
            <a:endParaRPr lang="en-US" sz="14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D6EB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reciben señales, las combinan y disparan una salida.</a:t>
            </a:r>
            <a:endParaRPr lang="en-US" sz="1400" dirty="0"/>
          </a:p>
          <a:p>
            <a:pPr marL="0" indent="0">
              <a:lnSpc>
                <a:spcPct val="112000"/>
              </a:lnSpc>
              <a:buNone/>
            </a:pPr>
            <a:endParaRPr lang="en-US" sz="14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Neuronas artificiales: </a:t>
            </a:r>
            <a:endParaRPr lang="en-US" sz="14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D6EB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hacen lo mismo con números. Miles de ellas, en capas, resuelven problemas complejos.</a:t>
            </a:r>
            <a:endParaRPr lang="en-US" sz="1400" dirty="0"/>
          </a:p>
          <a:p>
            <a:pPr marL="0" indent="0">
              <a:lnSpc>
                <a:spcPct val="112000"/>
              </a:lnSpc>
              <a:buNone/>
            </a:pPr>
            <a:endParaRPr lang="en-US" sz="14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400" i="1" dirty="0">
                <a:solidFill>
                  <a:srgbClr val="9FC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una analogía, no una copia: nos basta para intuir cómo funcionan.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Workshop: Neural Networks · AgeTech Latam Summer School 2026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076"/>
                </a:solidFill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LADRILLO BÁSICO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23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neurona artificial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2194560" cy="118872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94560" y="26517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7076"/>
                </a:solidFill>
              </a:rPr>
              <a:t>w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2834640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834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371600" y="3108960"/>
            <a:ext cx="2194560" cy="45720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3017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7076"/>
                </a:solidFill>
              </a:rPr>
              <a:t>w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2960" y="3566160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566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x3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371600" y="3840480"/>
            <a:ext cx="219456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94560" y="33832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7076"/>
                </a:solidFill>
              </a:rPr>
              <a:t>w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566160" y="3063240"/>
            <a:ext cx="1005840" cy="1005840"/>
          </a:xfrm>
          <a:prstGeom prst="ellipse">
            <a:avLst/>
          </a:prstGeom>
          <a:solidFill>
            <a:srgbClr val="028090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566160" y="30632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4572000" y="3566160"/>
            <a:ext cx="91440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0" y="306324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02C39A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0" y="306324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activación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949440" y="3566160"/>
            <a:ext cx="91440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63840" y="3246120"/>
            <a:ext cx="640080" cy="640080"/>
          </a:xfrm>
          <a:prstGeom prst="ellipse">
            <a:avLst/>
          </a:prstGeom>
          <a:solidFill>
            <a:srgbClr val="0B2B33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0" y="3246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ŷ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0080" y="42976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7076"/>
                </a:solidFill>
              </a:rPr>
              <a:t>entradas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108960" y="43434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7076"/>
                </a:solidFill>
              </a:rPr>
              <a:t>suma ponderada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394960" y="43434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7076"/>
                </a:solidFill>
              </a:rPr>
              <a:t>no linealidad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635240" y="43434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7076"/>
                </a:solidFill>
              </a:rPr>
              <a:t>salida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869680" y="1828800"/>
            <a:ext cx="2651760" cy="40233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9098280" y="2011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pasos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098280" y="2423160"/>
            <a:ext cx="22860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Pesos (w)
</a:t>
            </a:r>
            <a:r>
              <a:rPr lang="en-US" sz="1250" dirty="0">
                <a:solidFill>
                  <a:srgbClr val="5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cuánto importa cada entrada.
</a:t>
            </a:r>
            <a:r>
              <a:rPr lang="en-US" sz="135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Suma
</a:t>
            </a:r>
            <a:r>
              <a:rPr lang="en-US" sz="1250" dirty="0">
                <a:solidFill>
                  <a:srgbClr val="5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 todo en un número.
</a:t>
            </a:r>
            <a:r>
              <a:rPr lang="en-US" sz="135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Activación
</a:t>
            </a:r>
            <a:r>
              <a:rPr lang="en-US" sz="1250" dirty="0">
                <a:solidFill>
                  <a:srgbClr val="5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la salida (ReLU, sigmoide…).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Workshop: Neural Networks · AgeTech Latam Summer School 2026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076"/>
                </a:solidFill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UNA NEURONA A MUCHAS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23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Capas: dónde nace el poder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316736" y="3172968"/>
            <a:ext cx="1563624" cy="0"/>
          </a:xfrm>
          <a:prstGeom prst="line">
            <a:avLst/>
          </a:prstGeom>
          <a:noFill/>
          <a:ln w="12700">
            <a:solidFill>
              <a:srgbClr val="BFE0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16736" y="3172968"/>
            <a:ext cx="1563624" cy="27432"/>
          </a:xfrm>
          <a:prstGeom prst="line">
            <a:avLst/>
          </a:prstGeom>
          <a:noFill/>
          <a:ln w="12700">
            <a:solidFill>
              <a:srgbClr val="BFE0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16736" y="3172968"/>
            <a:ext cx="1563624" cy="740664"/>
          </a:xfrm>
          <a:prstGeom prst="line">
            <a:avLst/>
          </a:prstGeom>
          <a:noFill/>
          <a:ln w="12700">
            <a:solidFill>
              <a:srgbClr val="BFE0D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16736" y="3172968"/>
            <a:ext cx="1563624" cy="1453896"/>
          </a:xfrm>
          <a:prstGeom prst="line">
            <a:avLst/>
          </a:prstGeom>
          <a:noFill/>
          <a:ln w="12700">
            <a:solidFill>
              <a:srgbClr val="BFE0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16736" y="3886200"/>
            <a:ext cx="1563624" cy="0"/>
          </a:xfrm>
          <a:prstGeom prst="line">
            <a:avLst/>
          </a:prstGeom>
          <a:noFill/>
          <a:ln w="12700">
            <a:solidFill>
              <a:srgbClr val="BFE0D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16736" y="3886200"/>
            <a:ext cx="1563624" cy="0"/>
          </a:xfrm>
          <a:prstGeom prst="line">
            <a:avLst/>
          </a:prstGeom>
          <a:noFill/>
          <a:ln w="12700">
            <a:solidFill>
              <a:srgbClr val="BFE0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16736" y="3886200"/>
            <a:ext cx="1563624" cy="27432"/>
          </a:xfrm>
          <a:prstGeom prst="line">
            <a:avLst/>
          </a:prstGeom>
          <a:noFill/>
          <a:ln w="12700">
            <a:solidFill>
              <a:srgbClr val="BFE0D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16736" y="3886200"/>
            <a:ext cx="1563624" cy="740664"/>
          </a:xfrm>
          <a:prstGeom prst="line">
            <a:avLst/>
          </a:prstGeom>
          <a:noFill/>
          <a:ln w="12700">
            <a:solidFill>
              <a:srgbClr val="BFE0D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91256" y="2487168"/>
            <a:ext cx="1563624" cy="0"/>
          </a:xfrm>
          <a:prstGeom prst="line">
            <a:avLst/>
          </a:prstGeom>
          <a:noFill/>
          <a:ln w="12700">
            <a:solidFill>
              <a:srgbClr val="BFE0D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191256" y="2487168"/>
            <a:ext cx="1563624" cy="713232"/>
          </a:xfrm>
          <a:prstGeom prst="line">
            <a:avLst/>
          </a:prstGeom>
          <a:noFill/>
          <a:ln w="12700">
            <a:solidFill>
              <a:srgbClr val="BFE0D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91256" y="2487168"/>
            <a:ext cx="1563624" cy="1426464"/>
          </a:xfrm>
          <a:prstGeom prst="line">
            <a:avLst/>
          </a:prstGeom>
          <a:noFill/>
          <a:ln w="12700">
            <a:solidFill>
              <a:srgbClr val="BFE0D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91256" y="2487168"/>
            <a:ext cx="1563624" cy="2139696"/>
          </a:xfrm>
          <a:prstGeom prst="line">
            <a:avLst/>
          </a:prstGeom>
          <a:noFill/>
          <a:ln w="12700">
            <a:solidFill>
              <a:srgbClr val="BFE0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91256" y="3200400"/>
            <a:ext cx="1563624" cy="0"/>
          </a:xfrm>
          <a:prstGeom prst="line">
            <a:avLst/>
          </a:prstGeom>
          <a:noFill/>
          <a:ln w="12700">
            <a:solidFill>
              <a:srgbClr val="BFE0D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191256" y="3200400"/>
            <a:ext cx="1563624" cy="0"/>
          </a:xfrm>
          <a:prstGeom prst="line">
            <a:avLst/>
          </a:prstGeom>
          <a:noFill/>
          <a:ln w="12700">
            <a:solidFill>
              <a:srgbClr val="BFE0D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91256" y="3200400"/>
            <a:ext cx="1563624" cy="713232"/>
          </a:xfrm>
          <a:prstGeom prst="line">
            <a:avLst/>
          </a:prstGeom>
          <a:noFill/>
          <a:ln w="12700">
            <a:solidFill>
              <a:srgbClr val="BFE0D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191256" y="3200400"/>
            <a:ext cx="1563624" cy="1426464"/>
          </a:xfrm>
          <a:prstGeom prst="line">
            <a:avLst/>
          </a:prstGeom>
          <a:noFill/>
          <a:ln w="12700">
            <a:solidFill>
              <a:srgbClr val="BFE0D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91256" y="3913632"/>
            <a:ext cx="1563624" cy="0"/>
          </a:xfrm>
          <a:prstGeom prst="line">
            <a:avLst/>
          </a:prstGeom>
          <a:noFill/>
          <a:ln w="12700">
            <a:solidFill>
              <a:srgbClr val="BFE0D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91256" y="3913632"/>
            <a:ext cx="1563624" cy="0"/>
          </a:xfrm>
          <a:prstGeom prst="line">
            <a:avLst/>
          </a:prstGeom>
          <a:noFill/>
          <a:ln w="12700">
            <a:solidFill>
              <a:srgbClr val="BFE0D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91256" y="3913632"/>
            <a:ext cx="1563624" cy="0"/>
          </a:xfrm>
          <a:prstGeom prst="line">
            <a:avLst/>
          </a:prstGeom>
          <a:noFill/>
          <a:ln w="12700">
            <a:solidFill>
              <a:srgbClr val="BFE0D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91256" y="3913632"/>
            <a:ext cx="1563624" cy="713232"/>
          </a:xfrm>
          <a:prstGeom prst="line">
            <a:avLst/>
          </a:prstGeom>
          <a:noFill/>
          <a:ln w="12700">
            <a:solidFill>
              <a:srgbClr val="BFE0D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91256" y="4626864"/>
            <a:ext cx="1563624" cy="0"/>
          </a:xfrm>
          <a:prstGeom prst="line">
            <a:avLst/>
          </a:prstGeom>
          <a:noFill/>
          <a:ln w="12700">
            <a:solidFill>
              <a:srgbClr val="BFE0D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191256" y="4626864"/>
            <a:ext cx="1563624" cy="0"/>
          </a:xfrm>
          <a:prstGeom prst="line">
            <a:avLst/>
          </a:prstGeom>
          <a:noFill/>
          <a:ln w="12700">
            <a:solidFill>
              <a:srgbClr val="BFE0D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191256" y="4626864"/>
            <a:ext cx="1563624" cy="0"/>
          </a:xfrm>
          <a:prstGeom prst="line">
            <a:avLst/>
          </a:prstGeom>
          <a:noFill/>
          <a:ln w="12700">
            <a:solidFill>
              <a:srgbClr val="BFE0D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191256" y="4626864"/>
            <a:ext cx="1563624" cy="0"/>
          </a:xfrm>
          <a:prstGeom prst="line">
            <a:avLst/>
          </a:prstGeom>
          <a:noFill/>
          <a:ln w="12700">
            <a:solidFill>
              <a:srgbClr val="BFE0D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65776" y="2487168"/>
            <a:ext cx="1563624" cy="1097280"/>
          </a:xfrm>
          <a:prstGeom prst="line">
            <a:avLst/>
          </a:prstGeom>
          <a:noFill/>
          <a:ln w="12700">
            <a:solidFill>
              <a:srgbClr val="BFE0D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65776" y="3200400"/>
            <a:ext cx="1563624" cy="384048"/>
          </a:xfrm>
          <a:prstGeom prst="line">
            <a:avLst/>
          </a:prstGeom>
          <a:noFill/>
          <a:ln w="12700">
            <a:solidFill>
              <a:srgbClr val="BFE0D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65776" y="3913632"/>
            <a:ext cx="1563624" cy="0"/>
          </a:xfrm>
          <a:prstGeom prst="line">
            <a:avLst/>
          </a:prstGeom>
          <a:noFill/>
          <a:ln w="12700">
            <a:solidFill>
              <a:srgbClr val="BFE0D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65776" y="4626864"/>
            <a:ext cx="1563624" cy="0"/>
          </a:xfrm>
          <a:prstGeom prst="line">
            <a:avLst/>
          </a:prstGeom>
          <a:noFill/>
          <a:ln w="12700">
            <a:solidFill>
              <a:srgbClr val="BFE0D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05840" y="2862072"/>
            <a:ext cx="621792" cy="62179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3" name="Shape 31"/>
          <p:cNvSpPr/>
          <p:nvPr/>
        </p:nvSpPr>
        <p:spPr>
          <a:xfrm>
            <a:off x="1005840" y="3575304"/>
            <a:ext cx="621792" cy="62179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4" name="Shape 32"/>
          <p:cNvSpPr/>
          <p:nvPr/>
        </p:nvSpPr>
        <p:spPr>
          <a:xfrm>
            <a:off x="2880360" y="2176272"/>
            <a:ext cx="621792" cy="62179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5" name="Shape 33"/>
          <p:cNvSpPr/>
          <p:nvPr/>
        </p:nvSpPr>
        <p:spPr>
          <a:xfrm>
            <a:off x="2880360" y="2889504"/>
            <a:ext cx="621792" cy="62179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6" name="Shape 34"/>
          <p:cNvSpPr/>
          <p:nvPr/>
        </p:nvSpPr>
        <p:spPr>
          <a:xfrm>
            <a:off x="2880360" y="3602736"/>
            <a:ext cx="621792" cy="62179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7" name="Shape 35"/>
          <p:cNvSpPr/>
          <p:nvPr/>
        </p:nvSpPr>
        <p:spPr>
          <a:xfrm>
            <a:off x="2880360" y="4315968"/>
            <a:ext cx="621792" cy="62179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8" name="Shape 36"/>
          <p:cNvSpPr/>
          <p:nvPr/>
        </p:nvSpPr>
        <p:spPr>
          <a:xfrm>
            <a:off x="4754880" y="2176272"/>
            <a:ext cx="621792" cy="62179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9" name="Shape 37"/>
          <p:cNvSpPr/>
          <p:nvPr/>
        </p:nvSpPr>
        <p:spPr>
          <a:xfrm>
            <a:off x="4754880" y="2889504"/>
            <a:ext cx="621792" cy="62179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0" name="Shape 38"/>
          <p:cNvSpPr/>
          <p:nvPr/>
        </p:nvSpPr>
        <p:spPr>
          <a:xfrm>
            <a:off x="4754880" y="3602736"/>
            <a:ext cx="621792" cy="62179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1" name="Shape 39"/>
          <p:cNvSpPr/>
          <p:nvPr/>
        </p:nvSpPr>
        <p:spPr>
          <a:xfrm>
            <a:off x="4754880" y="4315968"/>
            <a:ext cx="621792" cy="62179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2" name="Shape 40"/>
          <p:cNvSpPr/>
          <p:nvPr/>
        </p:nvSpPr>
        <p:spPr>
          <a:xfrm>
            <a:off x="6629400" y="3273552"/>
            <a:ext cx="621792" cy="621792"/>
          </a:xfrm>
          <a:prstGeom prst="ellipse">
            <a:avLst/>
          </a:prstGeom>
          <a:solidFill>
            <a:srgbClr val="0B2B33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0749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7076"/>
                </a:solidFill>
              </a:rPr>
              <a:t>Entrada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2560320" y="50749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7076"/>
                </a:solidFill>
              </a:rPr>
              <a:t>Oculta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4434840" y="50749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7076"/>
                </a:solidFill>
              </a:rPr>
              <a:t>Oculta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309360" y="50749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7076"/>
                </a:solidFill>
              </a:rPr>
              <a:t>Salida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8412480" y="1828800"/>
            <a:ext cx="3108960" cy="3840480"/>
          </a:xfrm>
          <a:prstGeom prst="roundRect">
            <a:avLst>
              <a:gd name="adj" fmla="val 2647"/>
            </a:avLst>
          </a:prstGeom>
          <a:solidFill>
            <a:srgbClr val="F2F7F7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8686800" y="210312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7559" y="2233879"/>
            <a:ext cx="332842" cy="332842"/>
          </a:xfrm>
          <a:prstGeom prst="rect">
            <a:avLst/>
          </a:prstGeom>
        </p:spPr>
      </p:pic>
      <p:sp>
        <p:nvSpPr>
          <p:cNvPr id="50" name="Text 47"/>
          <p:cNvSpPr/>
          <p:nvPr/>
        </p:nvSpPr>
        <p:spPr>
          <a:xfrm>
            <a:off x="8686800" y="27889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capas ocultas?</a:t>
            </a:r>
            <a:endParaRPr lang="en-US" sz="1600" dirty="0"/>
          </a:p>
        </p:txBody>
      </p:sp>
      <p:sp>
        <p:nvSpPr>
          <p:cNvPr id="51" name="Text 48"/>
          <p:cNvSpPr/>
          <p:nvPr/>
        </p:nvSpPr>
        <p:spPr>
          <a:xfrm>
            <a:off x="8686800" y="3383280"/>
            <a:ext cx="2651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sola capa solo traza líneas rectas.
</a:t>
            </a:r>
            <a:r>
              <a:rPr lang="en-US" sz="1300" dirty="0">
                <a:solidFill>
                  <a:srgbClr val="5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capas ocultas y la no linealidad permiten curvas y fronteras complejas — como separar dos círculos.
</a:t>
            </a:r>
            <a:r>
              <a:rPr lang="en-US" sz="1300" i="1" dirty="0">
                <a:solidFill>
                  <a:srgbClr val="5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capas/neuronas = puede aprender patrones más ricos (pero también sobreajustar).</a:t>
            </a:r>
            <a:endParaRPr lang="en-US" sz="1350" dirty="0"/>
          </a:p>
        </p:txBody>
      </p:sp>
      <p:sp>
        <p:nvSpPr>
          <p:cNvPr id="52" name="Text 49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Workshop: Neural Networks · AgeTech Latam Summer School 2026</a:t>
            </a:r>
            <a:endParaRPr lang="en-US" sz="900" dirty="0"/>
          </a:p>
        </p:txBody>
      </p:sp>
      <p:sp>
        <p:nvSpPr>
          <p:cNvPr id="53" name="Text 50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076"/>
                </a:solidFill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PREGUNTAS, UNA HERRAMIENTA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23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Clasificación vs. Regresión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240280"/>
            <a:ext cx="731520" cy="731520"/>
          </a:xfrm>
          <a:prstGeom prst="ellipse">
            <a:avLst/>
          </a:prstGeom>
          <a:solidFill>
            <a:srgbClr val="E3F3F1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054" y="2401214"/>
            <a:ext cx="409651" cy="40965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23774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Clasificación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960120" y="3154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¿A qué grupo pertenece?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60120" y="365760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Salida: una categoría
</a:t>
            </a:r>
            <a:r>
              <a:rPr lang="en-US" sz="1450" dirty="0">
                <a:solidFill>
                  <a:srgbClr val="5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de hoy: tumor benigno vs. maligno
También: ¿hay caída? ¿riesgo alto/bajo? ¿qué patología?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126480" y="192024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46520" y="2240280"/>
            <a:ext cx="731520" cy="731520"/>
          </a:xfrm>
          <a:prstGeom prst="ellipse">
            <a:avLst/>
          </a:prstGeom>
          <a:solidFill>
            <a:srgbClr val="E3F3F1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454" y="2401214"/>
            <a:ext cx="409651" cy="4096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360920" y="23774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Regresión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6446520" y="3154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cantidad / qué número?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6446520" y="365760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Salida: un número continuo
</a:t>
            </a:r>
            <a:r>
              <a:rPr lang="en-US" sz="1450" dirty="0">
                <a:solidFill>
                  <a:srgbClr val="5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de hoy: progresión de la diabetes
También: presión estimada, dosis, días de estancia, edad biológica.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Workshop: Neural Networks · AgeTech Latam Summer School 2026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076"/>
                </a:solidFill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2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4389120"/>
            <a:ext cx="3840480" cy="3840480"/>
          </a:xfrm>
          <a:prstGeom prst="ellipse">
            <a:avLst/>
          </a:prstGeom>
          <a:solidFill>
            <a:srgbClr val="028090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1280160"/>
            <a:ext cx="914400" cy="91440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1481328"/>
            <a:ext cx="512064" cy="5120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2377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MANOS A LA OBRA · 1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22960" y="27889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TensorFlow Playground</a:t>
            </a:r>
            <a:endParaRPr lang="en-US" sz="4400" dirty="0"/>
          </a:p>
        </p:txBody>
      </p:sp>
      <p:sp>
        <p:nvSpPr>
          <p:cNvPr id="7" name="Text 4">
            <a:hlinkClick r:id="rId4"/>
          </p:cNvPr>
          <p:cNvSpPr/>
          <p:nvPr/>
        </p:nvSpPr>
        <p:spPr>
          <a:xfrm>
            <a:off x="868680" y="3703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u="sng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playground.tensorflow.org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68680" y="44348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Construye una red neuronal moviendo perillas — sin escribir una sola línea de código. Todos abran el enlace en su PC.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MANOS A LA OBRA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23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Guía: experimenta en el Playground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7498080" cy="749808"/>
          </a:xfrm>
          <a:prstGeom prst="roundRect">
            <a:avLst>
              <a:gd name="adj" fmla="val 10976"/>
            </a:avLst>
          </a:prstGeom>
          <a:solidFill>
            <a:srgbClr val="F2F7F7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020824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0208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1929384"/>
            <a:ext cx="6492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el dataset de los dos círculos
</a:t>
            </a:r>
            <a:r>
              <a:rPr lang="en-US" sz="1250" dirty="0">
                <a:solidFill>
                  <a:srgbClr val="5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clásico: azul adentro, naranja afuera.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715768"/>
            <a:ext cx="7498080" cy="749808"/>
          </a:xfrm>
          <a:prstGeom prst="roundRect">
            <a:avLst>
              <a:gd name="adj" fmla="val 10976"/>
            </a:avLst>
          </a:prstGeom>
          <a:solidFill>
            <a:srgbClr val="F2F7F7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2862072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862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2770632"/>
            <a:ext cx="6492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Empieza SIN capas ocultas
</a:t>
            </a:r>
            <a:r>
              <a:rPr lang="en-US" sz="1250" dirty="0">
                <a:solidFill>
                  <a:srgbClr val="5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entrada y salida. Dale ▶. ¿Puede separarlos? (no).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557016"/>
            <a:ext cx="7498080" cy="749808"/>
          </a:xfrm>
          <a:prstGeom prst="roundRect">
            <a:avLst>
              <a:gd name="adj" fmla="val 10976"/>
            </a:avLst>
          </a:prstGeom>
          <a:solidFill>
            <a:srgbClr val="F2F7F7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68680" y="370332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3611880"/>
            <a:ext cx="6492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 1 capa oculta con 2–4 neuronas
</a:t>
            </a:r>
            <a:r>
              <a:rPr lang="en-US" sz="1250" dirty="0">
                <a:solidFill>
                  <a:srgbClr val="5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 cómo el fondo empieza a curvarse.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398264"/>
            <a:ext cx="7498080" cy="749808"/>
          </a:xfrm>
          <a:prstGeom prst="roundRect">
            <a:avLst>
              <a:gd name="adj" fmla="val 10976"/>
            </a:avLst>
          </a:prstGeom>
          <a:solidFill>
            <a:srgbClr val="F2F7F7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8680" y="4544568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544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508760" y="4453128"/>
            <a:ext cx="6492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Sube a 2 capas y más neuronas
</a:t>
            </a:r>
            <a:r>
              <a:rPr lang="en-US" sz="1250" dirty="0">
                <a:solidFill>
                  <a:srgbClr val="5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frontera se vuelve un círculo. ¡Ya aprende!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5239512"/>
            <a:ext cx="7498080" cy="749808"/>
          </a:xfrm>
          <a:prstGeom prst="roundRect">
            <a:avLst>
              <a:gd name="adj" fmla="val 10976"/>
            </a:avLst>
          </a:prstGeom>
          <a:solidFill>
            <a:srgbClr val="F2F7F7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68680" y="5385816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5385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508760" y="5294376"/>
            <a:ext cx="6492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la activación y el 'learning rate'
</a:t>
            </a:r>
            <a:r>
              <a:rPr lang="en-US" sz="1250" dirty="0">
                <a:solidFill>
                  <a:srgbClr val="5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ReLU vs Tanh. Mira qué pasa con el error.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366760" y="1874520"/>
            <a:ext cx="3154680" cy="4160520"/>
          </a:xfrm>
          <a:prstGeom prst="roundRect">
            <a:avLst>
              <a:gd name="adj" fmla="val 2609"/>
            </a:avLst>
          </a:prstGeom>
          <a:solidFill>
            <a:srgbClr val="0B2B33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641080" y="2148840"/>
            <a:ext cx="594360" cy="594360"/>
          </a:xfrm>
          <a:prstGeom prst="ellipse">
            <a:avLst/>
          </a:prstGeom>
          <a:solidFill>
            <a:srgbClr val="F2F7F7"/>
          </a:solidFill>
          <a:ln/>
        </p:spPr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1839" y="2279599"/>
            <a:ext cx="332842" cy="332842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8641080" y="2834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pregunta clave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8641080" y="3337560"/>
            <a:ext cx="2651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6EB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la red necesita capas ocultas para separar los círculos, pero no para separar dos grupos con una línea recta?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8641080" y="5440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9FC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esta idea para el código.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Workshop: Neural Networks · AgeTech Latam Summer School 2026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076"/>
                </a:solidFill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PUENTE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23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perilla es una línea de código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1600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8090"/>
                </a:solidFill>
              </a:rPr>
              <a:t>EN EL PLAYGROUND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09360" y="1600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</a:rPr>
              <a:t>EN PYTHON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521208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1965960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de capas ocultas</a:t>
            </a:r>
            <a:endParaRPr lang="en-US" sz="15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2167128"/>
            <a:ext cx="292608" cy="2560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355080" y="1965960"/>
            <a:ext cx="5166360" cy="658368"/>
          </a:xfrm>
          <a:prstGeom prst="roundRect">
            <a:avLst>
              <a:gd name="adj" fmla="val 9722"/>
            </a:avLst>
          </a:prstGeom>
          <a:solidFill>
            <a:srgbClr val="0B2B33"/>
          </a:solidFill>
          <a:ln/>
        </p:spPr>
      </p:sp>
      <p:sp>
        <p:nvSpPr>
          <p:cNvPr id="10" name="Text 7"/>
          <p:cNvSpPr/>
          <p:nvPr/>
        </p:nvSpPr>
        <p:spPr>
          <a:xfrm>
            <a:off x="6583680" y="196596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hidden_layer_sizes=(8, 8)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" y="2752344"/>
            <a:ext cx="521208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914400" y="2752344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Neuronas por capa</a:t>
            </a:r>
            <a:endParaRPr lang="en-US" sz="15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2953512"/>
            <a:ext cx="292608" cy="256032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355080" y="2752344"/>
            <a:ext cx="5166360" cy="658368"/>
          </a:xfrm>
          <a:prstGeom prst="roundRect">
            <a:avLst>
              <a:gd name="adj" fmla="val 9722"/>
            </a:avLst>
          </a:prstGeom>
          <a:solidFill>
            <a:srgbClr val="0B2B33"/>
          </a:solidFill>
          <a:ln/>
        </p:spPr>
      </p:sp>
      <p:sp>
        <p:nvSpPr>
          <p:cNvPr id="15" name="Text 11"/>
          <p:cNvSpPr/>
          <p:nvPr/>
        </p:nvSpPr>
        <p:spPr>
          <a:xfrm>
            <a:off x="6583680" y="2752344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los números dentro de ( … )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40080" y="3538728"/>
            <a:ext cx="521208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914400" y="3538728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de activación</a:t>
            </a:r>
            <a:endParaRPr lang="en-US" sz="1500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3739896"/>
            <a:ext cx="292608" cy="256032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6355080" y="3538728"/>
            <a:ext cx="5166360" cy="658368"/>
          </a:xfrm>
          <a:prstGeom prst="roundRect">
            <a:avLst>
              <a:gd name="adj" fmla="val 9722"/>
            </a:avLst>
          </a:prstGeom>
          <a:solidFill>
            <a:srgbClr val="0B2B33"/>
          </a:solidFill>
          <a:ln/>
        </p:spPr>
      </p:sp>
      <p:sp>
        <p:nvSpPr>
          <p:cNvPr id="20" name="Text 15"/>
          <p:cNvSpPr/>
          <p:nvPr/>
        </p:nvSpPr>
        <p:spPr>
          <a:xfrm>
            <a:off x="6583680" y="3538728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activation='relu'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640080" y="4325112"/>
            <a:ext cx="521208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Text 17"/>
          <p:cNvSpPr/>
          <p:nvPr/>
        </p:nvSpPr>
        <p:spPr>
          <a:xfrm>
            <a:off x="914400" y="4325112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rate</a:t>
            </a:r>
            <a:endParaRPr lang="en-US" sz="1500" dirty="0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4526280"/>
            <a:ext cx="292608" cy="256032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6355080" y="4325112"/>
            <a:ext cx="5166360" cy="658368"/>
          </a:xfrm>
          <a:prstGeom prst="roundRect">
            <a:avLst>
              <a:gd name="adj" fmla="val 9722"/>
            </a:avLst>
          </a:prstGeom>
          <a:solidFill>
            <a:srgbClr val="0B2B33"/>
          </a:solidFill>
          <a:ln/>
        </p:spPr>
      </p:sp>
      <p:sp>
        <p:nvSpPr>
          <p:cNvPr id="25" name="Text 19"/>
          <p:cNvSpPr/>
          <p:nvPr/>
        </p:nvSpPr>
        <p:spPr>
          <a:xfrm>
            <a:off x="6583680" y="4325112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learning_rate_init=0.05</a:t>
            </a:r>
            <a:endParaRPr lang="en-US" sz="1400" dirty="0"/>
          </a:p>
        </p:txBody>
      </p:sp>
      <p:sp>
        <p:nvSpPr>
          <p:cNvPr id="26" name="Shape 20"/>
          <p:cNvSpPr/>
          <p:nvPr/>
        </p:nvSpPr>
        <p:spPr>
          <a:xfrm>
            <a:off x="640080" y="5111496"/>
            <a:ext cx="521208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Text 21"/>
          <p:cNvSpPr/>
          <p:nvPr/>
        </p:nvSpPr>
        <p:spPr>
          <a:xfrm>
            <a:off x="914400" y="5111496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▶ (entrenar)</a:t>
            </a:r>
            <a:endParaRPr lang="en-US" sz="1500" dirty="0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5312664"/>
            <a:ext cx="292608" cy="256032"/>
          </a:xfrm>
          <a:prstGeom prst="rect">
            <a:avLst/>
          </a:prstGeom>
        </p:spPr>
      </p:pic>
      <p:sp>
        <p:nvSpPr>
          <p:cNvPr id="29" name="Shape 22"/>
          <p:cNvSpPr/>
          <p:nvPr/>
        </p:nvSpPr>
        <p:spPr>
          <a:xfrm>
            <a:off x="6355080" y="5111496"/>
            <a:ext cx="5166360" cy="658368"/>
          </a:xfrm>
          <a:prstGeom prst="roundRect">
            <a:avLst>
              <a:gd name="adj" fmla="val 9722"/>
            </a:avLst>
          </a:prstGeom>
          <a:solidFill>
            <a:srgbClr val="0B2B33"/>
          </a:solidFill>
          <a:ln/>
        </p:spPr>
      </p:sp>
      <p:sp>
        <p:nvSpPr>
          <p:cNvPr id="30" name="Text 23"/>
          <p:cNvSpPr/>
          <p:nvPr/>
        </p:nvSpPr>
        <p:spPr>
          <a:xfrm>
            <a:off x="6583680" y="5111496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red.fit(X, y)</a:t>
            </a:r>
            <a:endParaRPr lang="en-US" sz="1400" dirty="0"/>
          </a:p>
        </p:txBody>
      </p:sp>
      <p:sp>
        <p:nvSpPr>
          <p:cNvPr id="31" name="Text 2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Workshop: Neural Networks · AgeTech Latam Summer School 2026</a:t>
            </a:r>
            <a:endParaRPr lang="en-US" sz="900" dirty="0"/>
          </a:p>
        </p:txBody>
      </p:sp>
      <p:sp>
        <p:nvSpPr>
          <p:cNvPr id="32" name="Text 25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076"/>
                </a:solidFill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2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4206240"/>
            <a:ext cx="3657600" cy="3657600"/>
          </a:xfrm>
          <a:prstGeom prst="ellipse">
            <a:avLst/>
          </a:prstGeom>
          <a:solidFill>
            <a:srgbClr val="00A896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1280160"/>
            <a:ext cx="914400" cy="91440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1481328"/>
            <a:ext cx="512064" cy="5120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2377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MANOS A LA OBRA · 2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22960" y="278892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1 · Clasificación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68680" y="3703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Playground al código: dos círculos → cáncer de mama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68680" y="4526280"/>
            <a:ext cx="8686800" cy="685800"/>
          </a:xfrm>
          <a:prstGeom prst="roundRect">
            <a:avLst>
              <a:gd name="adj" fmla="val 10667"/>
            </a:avLst>
          </a:prstGeom>
          <a:solidFill>
            <a:srgbClr val="12333A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4700016"/>
            <a:ext cx="329184" cy="32918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452628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Ábrelo en Colab desde el repositorio de GitHub (badge 'Open in Colab')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1 · IDEAS CLAVE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23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mirar mientras ejecutas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2F7F7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21408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218" y="2262226"/>
            <a:ext cx="358445" cy="35844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1488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Test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914400" y="278892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Entrenamos con unos datos y evaluamos con otros que la red nunca vio. Así sabemos si aprendió o solo memorizó.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72200" y="182880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2F7F7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46520" y="2121408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7338" y="2262226"/>
            <a:ext cx="358445" cy="35844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23760" y="21488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Frontera de decisión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6446520" y="278892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fondo de colores del Playground, ahora dibujado por tu código. Un círculo bien trazado = aprendió.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393192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2F7F7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4224528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5218" y="4365346"/>
            <a:ext cx="358445" cy="35844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2519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Escalar / normalizar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914400" y="489204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datos reales, poner todas las variables en la misma escala es clave para que la red entrene bien.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172200" y="393192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2F7F7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46520" y="4224528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7338" y="4365346"/>
            <a:ext cx="358445" cy="35844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223760" y="42519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confusión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6446520" y="489204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salud no basta el % global: importa qué tipo de error comete (¿dice 'sano' a un enfermo?).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Workshop: Neural Networks · AgeTech Latam Summer School 2026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076"/>
                </a:solidFill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2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-1280160"/>
            <a:ext cx="3474720" cy="3474720"/>
          </a:xfrm>
          <a:prstGeom prst="ellipse">
            <a:avLst/>
          </a:prstGeom>
          <a:solidFill>
            <a:srgbClr val="02C39A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1280160"/>
            <a:ext cx="914400" cy="91440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1481328"/>
            <a:ext cx="512064" cy="5120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2377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MANOS A LA OBRA · 3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22960" y="278892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2 · Regresión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68680" y="3703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Predecir un número: progresión de la diabetes a un año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68680" y="43434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9FC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receta que el Notebook 1. Solo cambian la salida (un número) y cómo medimos el error.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2 · CÓMO SE MIDE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23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regresión no hay 'precisión %'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4924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640080" cy="640080"/>
          </a:xfrm>
          <a:prstGeom prst="ellipse">
            <a:avLst/>
          </a:prstGeom>
          <a:solidFill>
            <a:srgbClr val="E3F3F1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218" y="2335378"/>
            <a:ext cx="358445" cy="35844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22402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MAE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914400" y="288036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absoluto medio: en promedio, ¿por cuánto nos equivocamos? Se lee en las unidades del problema.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72200" y="1920240"/>
            <a:ext cx="534924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46520" y="2194560"/>
            <a:ext cx="640080" cy="640080"/>
          </a:xfrm>
          <a:prstGeom prst="ellipse">
            <a:avLst/>
          </a:prstGeom>
          <a:solidFill>
            <a:srgbClr val="E3F3F1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7338" y="2335378"/>
            <a:ext cx="358445" cy="35844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69480" y="22402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R²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6446520" y="288036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tan bien explica el modelo: 1.0 = perfecto, 0 = no explica nada. Sirve para comparar modelos.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40080" y="4023360"/>
            <a:ext cx="10881360" cy="1828800"/>
          </a:xfrm>
          <a:prstGeom prst="roundRect">
            <a:avLst>
              <a:gd name="adj" fmla="val 4500"/>
            </a:avLst>
          </a:prstGeom>
          <a:solidFill>
            <a:srgbClr val="0B2B33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60120" y="4434840"/>
            <a:ext cx="777240" cy="777240"/>
          </a:xfrm>
          <a:prstGeom prst="ellipse">
            <a:avLst/>
          </a:prstGeom>
          <a:solidFill>
            <a:srgbClr val="F2F7F7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1113" y="4605833"/>
            <a:ext cx="435254" cy="43525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920240" y="4526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Expectativas realistas</a:t>
            </a:r>
            <a:endParaRPr lang="en-US" sz="1900" dirty="0"/>
          </a:p>
        </p:txBody>
      </p:sp>
      <p:sp>
        <p:nvSpPr>
          <p:cNvPr id="18" name="Text 13"/>
          <p:cNvSpPr/>
          <p:nvPr/>
        </p:nvSpPr>
        <p:spPr>
          <a:xfrm>
            <a:off x="1920240" y="4983480"/>
            <a:ext cx="9326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D6EB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dataset es difícil de verdad: un R² de 0.3–0.5 es lo normal, incluso para los mejores modelos. No todo problema real se predice al 99%. Reconocer los límites de un modelo es parte de usarlo bien — y de usar la IA de forma responsable en salud.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Workshop: Neural Networks · AgeTech Latam Summer School 2026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076"/>
                </a:solidFill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TURNO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23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receta para tus propios problemas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2F7F7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658368" cy="65836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241" y="2385121"/>
            <a:ext cx="368686" cy="36868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258568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Datos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29718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Reúne ejemplos con la respuesta conocida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43400" y="196596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2F7F7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17720" y="2240280"/>
            <a:ext cx="658368" cy="65836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561" y="2385121"/>
            <a:ext cx="368686" cy="36868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94960" y="2258568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Separa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617720" y="29718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test + normaliza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046720" y="196596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2F7F7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21040" y="2240280"/>
            <a:ext cx="658368" cy="65836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5881" y="2385121"/>
            <a:ext cx="368686" cy="36868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098280" y="2258568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Define la red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321040" y="29718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Capas, neuronas, activación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40080" y="393192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2F7F7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14400" y="4206240"/>
            <a:ext cx="658368" cy="65836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9241" y="4351081"/>
            <a:ext cx="368686" cy="36868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91640" y="4224528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Entrena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914400" y="49377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red.fit(X, y)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4343400" y="393192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2F7F7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617720" y="4206240"/>
            <a:ext cx="658368" cy="65836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62561" y="4351081"/>
            <a:ext cx="368686" cy="36868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394960" y="4224528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Evalúa</a:t>
            </a:r>
            <a:endParaRPr lang="en-US" sz="1600" dirty="0"/>
          </a:p>
        </p:txBody>
      </p:sp>
      <p:sp>
        <p:nvSpPr>
          <p:cNvPr id="28" name="Text 21"/>
          <p:cNvSpPr/>
          <p:nvPr/>
        </p:nvSpPr>
        <p:spPr>
          <a:xfrm>
            <a:off x="4617720" y="49377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Precisión / MAE / R²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046720" y="393192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2F7F7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321040" y="4206240"/>
            <a:ext cx="658368" cy="65836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65881" y="4351081"/>
            <a:ext cx="368686" cy="368686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098280" y="4224528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Usa y revisa</a:t>
            </a:r>
            <a:endParaRPr lang="en-US" sz="1600" dirty="0"/>
          </a:p>
        </p:txBody>
      </p:sp>
      <p:sp>
        <p:nvSpPr>
          <p:cNvPr id="33" name="Text 25"/>
          <p:cNvSpPr/>
          <p:nvPr/>
        </p:nvSpPr>
        <p:spPr>
          <a:xfrm>
            <a:off x="8321040" y="49377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+ criterio humano</a:t>
            </a:r>
            <a:endParaRPr lang="en-US" sz="1300" dirty="0"/>
          </a:p>
        </p:txBody>
      </p:sp>
      <p:sp>
        <p:nvSpPr>
          <p:cNvPr id="34" name="Text 26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Workshop: Neural Networks · AgeTech Latam Summer School 2026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076"/>
                </a:solidFill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LA IA CON CRITERIO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23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Límites y responsabilidad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21408"/>
            <a:ext cx="640080" cy="640080"/>
          </a:xfrm>
          <a:prstGeom prst="ellipse">
            <a:avLst/>
          </a:prstGeom>
          <a:solidFill>
            <a:srgbClr val="E3F3F1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218" y="2262226"/>
            <a:ext cx="358445" cy="35844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1488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datos mandan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278892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los datos están sesgados o incompletos, la red hereda ese sesgo. 'Basura entra, basura sale'.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72200" y="182880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46520" y="2121408"/>
            <a:ext cx="640080" cy="640080"/>
          </a:xfrm>
          <a:prstGeom prst="ellipse">
            <a:avLst/>
          </a:prstGeom>
          <a:solidFill>
            <a:srgbClr val="E3F3F1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7338" y="2262226"/>
            <a:ext cx="358445" cy="35844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23760" y="21488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 ≠ causa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446520" y="278892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red encuentra patrones, no explica el porqué. No reemplaza el juicio clínico.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393192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4224528"/>
            <a:ext cx="640080" cy="640080"/>
          </a:xfrm>
          <a:prstGeom prst="ellipse">
            <a:avLst/>
          </a:prstGeom>
          <a:solidFill>
            <a:srgbClr val="E3F3F1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5218" y="4365346"/>
            <a:ext cx="358445" cy="35844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2519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Mide el error correcto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914400" y="489204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falso negativo en salud puede costar mucho más que un falso positivo. Elige la métrica según el riesgo.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172200" y="393192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46520" y="4224528"/>
            <a:ext cx="640080" cy="640080"/>
          </a:xfrm>
          <a:prstGeom prst="ellipse">
            <a:avLst/>
          </a:prstGeom>
          <a:solidFill>
            <a:srgbClr val="E3F3F1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7338" y="4365346"/>
            <a:ext cx="358445" cy="35844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223760" y="42519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Humano en el bucle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6446520" y="489204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apoya la decisión; la responsabilidad sigue siendo de las personas. Privacidad y ética primero.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Workshop: Neural Networks · AgeTech Latam Summer School 2026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076"/>
                </a:solidFill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2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371600"/>
            <a:ext cx="4023360" cy="4023360"/>
          </a:xfrm>
          <a:prstGeom prst="ellipse">
            <a:avLst/>
          </a:prstGeom>
          <a:solidFill>
            <a:srgbClr val="028090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4480560"/>
            <a:ext cx="3108960" cy="3108960"/>
          </a:xfrm>
          <a:prstGeom prst="ellipse">
            <a:avLst/>
          </a:prstGeom>
          <a:solidFill>
            <a:srgbClr val="02C39A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097280"/>
            <a:ext cx="914400" cy="91440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1298448"/>
            <a:ext cx="512064" cy="5120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1488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¡Gracias!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868680" y="32004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sabes qué es una red neuronal, para qué sirve y cómo correrla en Python.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22960" y="3977640"/>
            <a:ext cx="10515600" cy="1874520"/>
          </a:xfrm>
          <a:prstGeom prst="roundRect">
            <a:avLst>
              <a:gd name="adj" fmla="val 4390"/>
            </a:avLst>
          </a:prstGeom>
          <a:solidFill>
            <a:srgbClr val="12333A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1097280" y="41605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material (notebooks + esta presentación):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097280" y="4526280"/>
            <a:ext cx="10058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FC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 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github.com/calderonf/NeuralNetworkSummer
</a:t>
            </a:r>
            <a:r>
              <a:rPr lang="en-US" sz="1500" b="1" dirty="0">
                <a:solidFill>
                  <a:srgbClr val="9FC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Colab:   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cada notebook con el badge 'Open in Colab'
</a:t>
            </a:r>
            <a:r>
              <a:rPr lang="en-US" sz="1500" b="1" dirty="0">
                <a:solidFill>
                  <a:srgbClr val="9FC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Playground:  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playground.tensorflow.org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68680" y="5989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C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Elec. Francisco Calderón · Depto. de Electrónica · PUJ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2035</Words>
  <Application>Microsoft Macintosh PowerPoint</Application>
  <PresentationFormat>Panorámica</PresentationFormat>
  <Paragraphs>227</Paragraphs>
  <Slides>17</Slides>
  <Notes>17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2" baseType="lpstr">
      <vt:lpstr>Arial</vt:lpstr>
      <vt:lpstr>Calibri</vt:lpstr>
      <vt:lpstr>Cambria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Workshop: Neural Networks</dc:title>
  <dc:subject>PptxGenJS Presentation</dc:subject>
  <dc:creator>Francisco Calderón</dc:creator>
  <cp:lastModifiedBy>Francisco Carlos Calderon Bocanegra</cp:lastModifiedBy>
  <cp:revision>2</cp:revision>
  <dcterms:created xsi:type="dcterms:W3CDTF">2026-07-02T00:56:20Z</dcterms:created>
  <dcterms:modified xsi:type="dcterms:W3CDTF">2026-07-02T02:13:00Z</dcterms:modified>
</cp:coreProperties>
</file>